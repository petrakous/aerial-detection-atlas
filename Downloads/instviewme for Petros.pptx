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26"/>
    <p:restoredTop sz="94685"/>
  </p:normalViewPr>
  <p:slideViewPr>
    <p:cSldViewPr snapToGrid="0">
      <p:cViewPr varScale="1">
        <p:scale>
          <a:sx n="117" d="100"/>
          <a:sy n="117" d="100"/>
        </p:scale>
        <p:origin x="43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96590-A8FE-F3E2-7A5F-7E66494686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657F9EA-536F-B275-3FC0-71C69CBC94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4F93A5C-61D1-EECA-16DF-61C405628A8C}"/>
              </a:ext>
            </a:extLst>
          </p:cNvPr>
          <p:cNvSpPr>
            <a:spLocks noGrp="1"/>
          </p:cNvSpPr>
          <p:nvPr>
            <p:ph type="dt" sz="half" idx="10"/>
          </p:nvPr>
        </p:nvSpPr>
        <p:spPr/>
        <p:txBody>
          <a:bodyPr/>
          <a:lstStyle/>
          <a:p>
            <a:fld id="{0C7E4CCC-E0AA-9B4E-86BA-B8E3254B34E7}" type="datetimeFigureOut">
              <a:rPr lang="en-US" smtClean="0"/>
              <a:t>5/9/26</a:t>
            </a:fld>
            <a:endParaRPr lang="en-US"/>
          </a:p>
        </p:txBody>
      </p:sp>
      <p:sp>
        <p:nvSpPr>
          <p:cNvPr id="5" name="Footer Placeholder 4">
            <a:extLst>
              <a:ext uri="{FF2B5EF4-FFF2-40B4-BE49-F238E27FC236}">
                <a16:creationId xmlns:a16="http://schemas.microsoft.com/office/drawing/2014/main" id="{2FCCD1DA-1CF5-3C82-B425-DA17D550DC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C4EC68-909E-58C9-FDFC-626D35AFFC0C}"/>
              </a:ext>
            </a:extLst>
          </p:cNvPr>
          <p:cNvSpPr>
            <a:spLocks noGrp="1"/>
          </p:cNvSpPr>
          <p:nvPr>
            <p:ph type="sldNum" sz="quarter" idx="12"/>
          </p:nvPr>
        </p:nvSpPr>
        <p:spPr/>
        <p:txBody>
          <a:bodyPr/>
          <a:lstStyle/>
          <a:p>
            <a:fld id="{75C860FA-4CBE-CC45-B777-760FDBC0AFB5}" type="slidenum">
              <a:rPr lang="en-US" smtClean="0"/>
              <a:t>‹#›</a:t>
            </a:fld>
            <a:endParaRPr lang="en-US"/>
          </a:p>
        </p:txBody>
      </p:sp>
    </p:spTree>
    <p:extLst>
      <p:ext uri="{BB962C8B-B14F-4D97-AF65-F5344CB8AC3E}">
        <p14:creationId xmlns:p14="http://schemas.microsoft.com/office/powerpoint/2010/main" val="42895215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382EE-31AE-68B9-B1BB-FD7F86B3E7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1BB787-413B-2EED-1DBB-241BF776A3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57347B-36BC-5D56-F79E-E58E1740E169}"/>
              </a:ext>
            </a:extLst>
          </p:cNvPr>
          <p:cNvSpPr>
            <a:spLocks noGrp="1"/>
          </p:cNvSpPr>
          <p:nvPr>
            <p:ph type="dt" sz="half" idx="10"/>
          </p:nvPr>
        </p:nvSpPr>
        <p:spPr/>
        <p:txBody>
          <a:bodyPr/>
          <a:lstStyle/>
          <a:p>
            <a:fld id="{0C7E4CCC-E0AA-9B4E-86BA-B8E3254B34E7}" type="datetimeFigureOut">
              <a:rPr lang="en-US" smtClean="0"/>
              <a:t>5/9/26</a:t>
            </a:fld>
            <a:endParaRPr lang="en-US"/>
          </a:p>
        </p:txBody>
      </p:sp>
      <p:sp>
        <p:nvSpPr>
          <p:cNvPr id="5" name="Footer Placeholder 4">
            <a:extLst>
              <a:ext uri="{FF2B5EF4-FFF2-40B4-BE49-F238E27FC236}">
                <a16:creationId xmlns:a16="http://schemas.microsoft.com/office/drawing/2014/main" id="{5DCFBECC-A0DF-9C57-CD47-2FBB4485CD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EF6586-496B-255A-A0FF-7A432085057D}"/>
              </a:ext>
            </a:extLst>
          </p:cNvPr>
          <p:cNvSpPr>
            <a:spLocks noGrp="1"/>
          </p:cNvSpPr>
          <p:nvPr>
            <p:ph type="sldNum" sz="quarter" idx="12"/>
          </p:nvPr>
        </p:nvSpPr>
        <p:spPr/>
        <p:txBody>
          <a:bodyPr/>
          <a:lstStyle/>
          <a:p>
            <a:fld id="{75C860FA-4CBE-CC45-B777-760FDBC0AFB5}" type="slidenum">
              <a:rPr lang="en-US" smtClean="0"/>
              <a:t>‹#›</a:t>
            </a:fld>
            <a:endParaRPr lang="en-US"/>
          </a:p>
        </p:txBody>
      </p:sp>
    </p:spTree>
    <p:extLst>
      <p:ext uri="{BB962C8B-B14F-4D97-AF65-F5344CB8AC3E}">
        <p14:creationId xmlns:p14="http://schemas.microsoft.com/office/powerpoint/2010/main" val="34440250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603F6-25B3-ADB0-0608-F3BBD19587D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0304F75-E30F-59AA-A2B8-7A0CB9B12D3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0C4D2D9-E738-00E8-3140-63D023B33120}"/>
              </a:ext>
            </a:extLst>
          </p:cNvPr>
          <p:cNvSpPr>
            <a:spLocks noGrp="1"/>
          </p:cNvSpPr>
          <p:nvPr>
            <p:ph type="dt" sz="half" idx="10"/>
          </p:nvPr>
        </p:nvSpPr>
        <p:spPr/>
        <p:txBody>
          <a:bodyPr/>
          <a:lstStyle/>
          <a:p>
            <a:fld id="{0C7E4CCC-E0AA-9B4E-86BA-B8E3254B34E7}" type="datetimeFigureOut">
              <a:rPr lang="en-US" smtClean="0"/>
              <a:t>5/9/26</a:t>
            </a:fld>
            <a:endParaRPr lang="en-US"/>
          </a:p>
        </p:txBody>
      </p:sp>
      <p:sp>
        <p:nvSpPr>
          <p:cNvPr id="5" name="Footer Placeholder 4">
            <a:extLst>
              <a:ext uri="{FF2B5EF4-FFF2-40B4-BE49-F238E27FC236}">
                <a16:creationId xmlns:a16="http://schemas.microsoft.com/office/drawing/2014/main" id="{B1553124-9DB4-D472-DBAB-5D09A21552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75597F-D1A3-7EE5-D5D3-A413ABD0987D}"/>
              </a:ext>
            </a:extLst>
          </p:cNvPr>
          <p:cNvSpPr>
            <a:spLocks noGrp="1"/>
          </p:cNvSpPr>
          <p:nvPr>
            <p:ph type="sldNum" sz="quarter" idx="12"/>
          </p:nvPr>
        </p:nvSpPr>
        <p:spPr/>
        <p:txBody>
          <a:bodyPr/>
          <a:lstStyle/>
          <a:p>
            <a:fld id="{75C860FA-4CBE-CC45-B777-760FDBC0AFB5}" type="slidenum">
              <a:rPr lang="en-US" smtClean="0"/>
              <a:t>‹#›</a:t>
            </a:fld>
            <a:endParaRPr lang="en-US"/>
          </a:p>
        </p:txBody>
      </p:sp>
    </p:spTree>
    <p:extLst>
      <p:ext uri="{BB962C8B-B14F-4D97-AF65-F5344CB8AC3E}">
        <p14:creationId xmlns:p14="http://schemas.microsoft.com/office/powerpoint/2010/main" val="34388564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FEA49-7EFF-7C15-0930-DEBFB72BF5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5E69CD-F20A-D515-C618-31208BE0B9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C7852A4-BA97-6C9B-60C9-7727105D601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B0007E2-FF2E-6816-3D04-62BE85D13FE6}"/>
              </a:ext>
            </a:extLst>
          </p:cNvPr>
          <p:cNvSpPr>
            <a:spLocks noGrp="1"/>
          </p:cNvSpPr>
          <p:nvPr>
            <p:ph type="dt" sz="half" idx="10"/>
          </p:nvPr>
        </p:nvSpPr>
        <p:spPr/>
        <p:txBody>
          <a:bodyPr/>
          <a:lstStyle/>
          <a:p>
            <a:fld id="{0C7E4CCC-E0AA-9B4E-86BA-B8E3254B34E7}" type="datetimeFigureOut">
              <a:rPr lang="en-US" smtClean="0"/>
              <a:t>5/9/26</a:t>
            </a:fld>
            <a:endParaRPr lang="en-US"/>
          </a:p>
        </p:txBody>
      </p:sp>
      <p:sp>
        <p:nvSpPr>
          <p:cNvPr id="6" name="Footer Placeholder 5">
            <a:extLst>
              <a:ext uri="{FF2B5EF4-FFF2-40B4-BE49-F238E27FC236}">
                <a16:creationId xmlns:a16="http://schemas.microsoft.com/office/drawing/2014/main" id="{18E40971-772D-F250-ADCD-A82AD48EEF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F54609-79AF-7EE9-94B4-EC29D30F2F98}"/>
              </a:ext>
            </a:extLst>
          </p:cNvPr>
          <p:cNvSpPr>
            <a:spLocks noGrp="1"/>
          </p:cNvSpPr>
          <p:nvPr>
            <p:ph type="sldNum" sz="quarter" idx="12"/>
          </p:nvPr>
        </p:nvSpPr>
        <p:spPr/>
        <p:txBody>
          <a:bodyPr/>
          <a:lstStyle/>
          <a:p>
            <a:fld id="{75C860FA-4CBE-CC45-B777-760FDBC0AFB5}" type="slidenum">
              <a:rPr lang="en-US" smtClean="0"/>
              <a:t>‹#›</a:t>
            </a:fld>
            <a:endParaRPr lang="en-US"/>
          </a:p>
        </p:txBody>
      </p:sp>
    </p:spTree>
    <p:extLst>
      <p:ext uri="{BB962C8B-B14F-4D97-AF65-F5344CB8AC3E}">
        <p14:creationId xmlns:p14="http://schemas.microsoft.com/office/powerpoint/2010/main" val="1684646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D47B-D073-603B-A4E8-809EDC82132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AC255F1-8A8F-1543-5160-530DFF6CEC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E291704-AD3A-483E-1D29-D3F0D7DE95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2F29A9E-872E-7E56-7111-B0CA087C5B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763011-388D-0BD6-9499-DE367423E4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47C63E2-E72F-CD30-E6F1-91662E912A54}"/>
              </a:ext>
            </a:extLst>
          </p:cNvPr>
          <p:cNvSpPr>
            <a:spLocks noGrp="1"/>
          </p:cNvSpPr>
          <p:nvPr>
            <p:ph type="dt" sz="half" idx="10"/>
          </p:nvPr>
        </p:nvSpPr>
        <p:spPr/>
        <p:txBody>
          <a:bodyPr/>
          <a:lstStyle/>
          <a:p>
            <a:fld id="{0C7E4CCC-E0AA-9B4E-86BA-B8E3254B34E7}" type="datetimeFigureOut">
              <a:rPr lang="en-US" smtClean="0"/>
              <a:t>5/9/26</a:t>
            </a:fld>
            <a:endParaRPr lang="en-US"/>
          </a:p>
        </p:txBody>
      </p:sp>
      <p:sp>
        <p:nvSpPr>
          <p:cNvPr id="8" name="Footer Placeholder 7">
            <a:extLst>
              <a:ext uri="{FF2B5EF4-FFF2-40B4-BE49-F238E27FC236}">
                <a16:creationId xmlns:a16="http://schemas.microsoft.com/office/drawing/2014/main" id="{0FF392FA-D287-0189-A2B9-F2665B2F74D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CB12C00-1F29-FB0F-117A-DF3D4BB4BA9C}"/>
              </a:ext>
            </a:extLst>
          </p:cNvPr>
          <p:cNvSpPr>
            <a:spLocks noGrp="1"/>
          </p:cNvSpPr>
          <p:nvPr>
            <p:ph type="sldNum" sz="quarter" idx="12"/>
          </p:nvPr>
        </p:nvSpPr>
        <p:spPr/>
        <p:txBody>
          <a:bodyPr/>
          <a:lstStyle/>
          <a:p>
            <a:fld id="{75C860FA-4CBE-CC45-B777-760FDBC0AFB5}" type="slidenum">
              <a:rPr lang="en-US" smtClean="0"/>
              <a:t>‹#›</a:t>
            </a:fld>
            <a:endParaRPr lang="en-US"/>
          </a:p>
        </p:txBody>
      </p:sp>
    </p:spTree>
    <p:extLst>
      <p:ext uri="{BB962C8B-B14F-4D97-AF65-F5344CB8AC3E}">
        <p14:creationId xmlns:p14="http://schemas.microsoft.com/office/powerpoint/2010/main" val="3838994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17E3A-0960-B1F7-6A40-68BEA26DD49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AFFE318-B815-97FF-22F9-9EEDBE266A4A}"/>
              </a:ext>
            </a:extLst>
          </p:cNvPr>
          <p:cNvSpPr>
            <a:spLocks noGrp="1"/>
          </p:cNvSpPr>
          <p:nvPr>
            <p:ph type="dt" sz="half" idx="10"/>
          </p:nvPr>
        </p:nvSpPr>
        <p:spPr/>
        <p:txBody>
          <a:bodyPr/>
          <a:lstStyle/>
          <a:p>
            <a:fld id="{0C7E4CCC-E0AA-9B4E-86BA-B8E3254B34E7}" type="datetimeFigureOut">
              <a:rPr lang="en-US" smtClean="0"/>
              <a:t>5/9/26</a:t>
            </a:fld>
            <a:endParaRPr lang="en-US"/>
          </a:p>
        </p:txBody>
      </p:sp>
      <p:sp>
        <p:nvSpPr>
          <p:cNvPr id="4" name="Footer Placeholder 3">
            <a:extLst>
              <a:ext uri="{FF2B5EF4-FFF2-40B4-BE49-F238E27FC236}">
                <a16:creationId xmlns:a16="http://schemas.microsoft.com/office/drawing/2014/main" id="{92B79DB6-61B0-B014-000E-9B25250947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3F32E62-DA57-6024-C96C-D456E922E0F3}"/>
              </a:ext>
            </a:extLst>
          </p:cNvPr>
          <p:cNvSpPr>
            <a:spLocks noGrp="1"/>
          </p:cNvSpPr>
          <p:nvPr>
            <p:ph type="sldNum" sz="quarter" idx="12"/>
          </p:nvPr>
        </p:nvSpPr>
        <p:spPr/>
        <p:txBody>
          <a:bodyPr/>
          <a:lstStyle/>
          <a:p>
            <a:fld id="{75C860FA-4CBE-CC45-B777-760FDBC0AFB5}" type="slidenum">
              <a:rPr lang="en-US" smtClean="0"/>
              <a:t>‹#›</a:t>
            </a:fld>
            <a:endParaRPr lang="en-US"/>
          </a:p>
        </p:txBody>
      </p:sp>
    </p:spTree>
    <p:extLst>
      <p:ext uri="{BB962C8B-B14F-4D97-AF65-F5344CB8AC3E}">
        <p14:creationId xmlns:p14="http://schemas.microsoft.com/office/powerpoint/2010/main" val="3262719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A5523D-E7B8-60DD-FC8F-8D107064F35E}"/>
              </a:ext>
            </a:extLst>
          </p:cNvPr>
          <p:cNvSpPr>
            <a:spLocks noGrp="1"/>
          </p:cNvSpPr>
          <p:nvPr>
            <p:ph type="dt" sz="half" idx="10"/>
          </p:nvPr>
        </p:nvSpPr>
        <p:spPr/>
        <p:txBody>
          <a:bodyPr/>
          <a:lstStyle/>
          <a:p>
            <a:fld id="{0C7E4CCC-E0AA-9B4E-86BA-B8E3254B34E7}" type="datetimeFigureOut">
              <a:rPr lang="en-US" smtClean="0"/>
              <a:t>5/9/26</a:t>
            </a:fld>
            <a:endParaRPr lang="en-US"/>
          </a:p>
        </p:txBody>
      </p:sp>
      <p:sp>
        <p:nvSpPr>
          <p:cNvPr id="3" name="Footer Placeholder 2">
            <a:extLst>
              <a:ext uri="{FF2B5EF4-FFF2-40B4-BE49-F238E27FC236}">
                <a16:creationId xmlns:a16="http://schemas.microsoft.com/office/drawing/2014/main" id="{E17810B1-2F47-F8AF-8D64-5737750D40F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7591BE7-0B30-BAB5-0929-36AA867CE778}"/>
              </a:ext>
            </a:extLst>
          </p:cNvPr>
          <p:cNvSpPr>
            <a:spLocks noGrp="1"/>
          </p:cNvSpPr>
          <p:nvPr>
            <p:ph type="sldNum" sz="quarter" idx="12"/>
          </p:nvPr>
        </p:nvSpPr>
        <p:spPr/>
        <p:txBody>
          <a:bodyPr/>
          <a:lstStyle/>
          <a:p>
            <a:fld id="{75C860FA-4CBE-CC45-B777-760FDBC0AFB5}" type="slidenum">
              <a:rPr lang="en-US" smtClean="0"/>
              <a:t>‹#›</a:t>
            </a:fld>
            <a:endParaRPr lang="en-US"/>
          </a:p>
        </p:txBody>
      </p:sp>
    </p:spTree>
    <p:extLst>
      <p:ext uri="{BB962C8B-B14F-4D97-AF65-F5344CB8AC3E}">
        <p14:creationId xmlns:p14="http://schemas.microsoft.com/office/powerpoint/2010/main" val="12445571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0A926-C5D5-0C89-7CF2-1EDA0D3E58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B602953-A7CB-41D2-98A9-B8DE9BD56F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588D451-B4DB-79B7-37C9-7514DF4795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ADB6E2-81C7-37F8-A30C-2114D44C7DBC}"/>
              </a:ext>
            </a:extLst>
          </p:cNvPr>
          <p:cNvSpPr>
            <a:spLocks noGrp="1"/>
          </p:cNvSpPr>
          <p:nvPr>
            <p:ph type="dt" sz="half" idx="10"/>
          </p:nvPr>
        </p:nvSpPr>
        <p:spPr/>
        <p:txBody>
          <a:bodyPr/>
          <a:lstStyle/>
          <a:p>
            <a:fld id="{0C7E4CCC-E0AA-9B4E-86BA-B8E3254B34E7}" type="datetimeFigureOut">
              <a:rPr lang="en-US" smtClean="0"/>
              <a:t>5/9/26</a:t>
            </a:fld>
            <a:endParaRPr lang="en-US"/>
          </a:p>
        </p:txBody>
      </p:sp>
      <p:sp>
        <p:nvSpPr>
          <p:cNvPr id="6" name="Footer Placeholder 5">
            <a:extLst>
              <a:ext uri="{FF2B5EF4-FFF2-40B4-BE49-F238E27FC236}">
                <a16:creationId xmlns:a16="http://schemas.microsoft.com/office/drawing/2014/main" id="{E69787A4-C73F-B285-2181-C068977174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85FC34-9B4D-44D7-106D-0B7C9A4618A7}"/>
              </a:ext>
            </a:extLst>
          </p:cNvPr>
          <p:cNvSpPr>
            <a:spLocks noGrp="1"/>
          </p:cNvSpPr>
          <p:nvPr>
            <p:ph type="sldNum" sz="quarter" idx="12"/>
          </p:nvPr>
        </p:nvSpPr>
        <p:spPr/>
        <p:txBody>
          <a:bodyPr/>
          <a:lstStyle/>
          <a:p>
            <a:fld id="{75C860FA-4CBE-CC45-B777-760FDBC0AFB5}" type="slidenum">
              <a:rPr lang="en-US" smtClean="0"/>
              <a:t>‹#›</a:t>
            </a:fld>
            <a:endParaRPr lang="en-US"/>
          </a:p>
        </p:txBody>
      </p:sp>
    </p:spTree>
    <p:extLst>
      <p:ext uri="{BB962C8B-B14F-4D97-AF65-F5344CB8AC3E}">
        <p14:creationId xmlns:p14="http://schemas.microsoft.com/office/powerpoint/2010/main" val="34895173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F6388-B6C2-7B0D-0739-E321B66786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E55AA0D-A4E7-3D6B-A189-A550D8AD90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567B14F-1C2B-5798-4CE7-2D4632B474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DE6A20-E1B0-4F1E-E632-B6801E443D17}"/>
              </a:ext>
            </a:extLst>
          </p:cNvPr>
          <p:cNvSpPr>
            <a:spLocks noGrp="1"/>
          </p:cNvSpPr>
          <p:nvPr>
            <p:ph type="dt" sz="half" idx="10"/>
          </p:nvPr>
        </p:nvSpPr>
        <p:spPr/>
        <p:txBody>
          <a:bodyPr/>
          <a:lstStyle/>
          <a:p>
            <a:fld id="{0C7E4CCC-E0AA-9B4E-86BA-B8E3254B34E7}" type="datetimeFigureOut">
              <a:rPr lang="en-US" smtClean="0"/>
              <a:t>5/9/26</a:t>
            </a:fld>
            <a:endParaRPr lang="en-US"/>
          </a:p>
        </p:txBody>
      </p:sp>
      <p:sp>
        <p:nvSpPr>
          <p:cNvPr id="6" name="Footer Placeholder 5">
            <a:extLst>
              <a:ext uri="{FF2B5EF4-FFF2-40B4-BE49-F238E27FC236}">
                <a16:creationId xmlns:a16="http://schemas.microsoft.com/office/drawing/2014/main" id="{7411E58D-74D6-A879-B733-EFCEFE7C96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8E1386-65BD-7DC4-D316-36AA2C22ECE9}"/>
              </a:ext>
            </a:extLst>
          </p:cNvPr>
          <p:cNvSpPr>
            <a:spLocks noGrp="1"/>
          </p:cNvSpPr>
          <p:nvPr>
            <p:ph type="sldNum" sz="quarter" idx="12"/>
          </p:nvPr>
        </p:nvSpPr>
        <p:spPr/>
        <p:txBody>
          <a:bodyPr/>
          <a:lstStyle/>
          <a:p>
            <a:fld id="{75C860FA-4CBE-CC45-B777-760FDBC0AFB5}" type="slidenum">
              <a:rPr lang="en-US" smtClean="0"/>
              <a:t>‹#›</a:t>
            </a:fld>
            <a:endParaRPr lang="en-US"/>
          </a:p>
        </p:txBody>
      </p:sp>
    </p:spTree>
    <p:extLst>
      <p:ext uri="{BB962C8B-B14F-4D97-AF65-F5344CB8AC3E}">
        <p14:creationId xmlns:p14="http://schemas.microsoft.com/office/powerpoint/2010/main" val="2379018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990DC-3FC2-96B3-B929-DC88FAF927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2FCC94E-8CD8-E992-300D-E3A19A407D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E8B17B-FC60-E11D-DD82-6AF75518B7BE}"/>
              </a:ext>
            </a:extLst>
          </p:cNvPr>
          <p:cNvSpPr>
            <a:spLocks noGrp="1"/>
          </p:cNvSpPr>
          <p:nvPr>
            <p:ph type="dt" sz="half" idx="10"/>
          </p:nvPr>
        </p:nvSpPr>
        <p:spPr/>
        <p:txBody>
          <a:bodyPr/>
          <a:lstStyle/>
          <a:p>
            <a:fld id="{0C7E4CCC-E0AA-9B4E-86BA-B8E3254B34E7}" type="datetimeFigureOut">
              <a:rPr lang="en-US" smtClean="0"/>
              <a:t>5/9/26</a:t>
            </a:fld>
            <a:endParaRPr lang="en-US"/>
          </a:p>
        </p:txBody>
      </p:sp>
      <p:sp>
        <p:nvSpPr>
          <p:cNvPr id="5" name="Footer Placeholder 4">
            <a:extLst>
              <a:ext uri="{FF2B5EF4-FFF2-40B4-BE49-F238E27FC236}">
                <a16:creationId xmlns:a16="http://schemas.microsoft.com/office/drawing/2014/main" id="{67F194EB-4579-C1B0-6323-9A9278E801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6E7472-BB0F-DFF0-CB15-7D0BC6716C6A}"/>
              </a:ext>
            </a:extLst>
          </p:cNvPr>
          <p:cNvSpPr>
            <a:spLocks noGrp="1"/>
          </p:cNvSpPr>
          <p:nvPr>
            <p:ph type="sldNum" sz="quarter" idx="12"/>
          </p:nvPr>
        </p:nvSpPr>
        <p:spPr/>
        <p:txBody>
          <a:bodyPr/>
          <a:lstStyle/>
          <a:p>
            <a:fld id="{75C860FA-4CBE-CC45-B777-760FDBC0AFB5}" type="slidenum">
              <a:rPr lang="en-US" smtClean="0"/>
              <a:t>‹#›</a:t>
            </a:fld>
            <a:endParaRPr lang="en-US"/>
          </a:p>
        </p:txBody>
      </p:sp>
    </p:spTree>
    <p:extLst>
      <p:ext uri="{BB962C8B-B14F-4D97-AF65-F5344CB8AC3E}">
        <p14:creationId xmlns:p14="http://schemas.microsoft.com/office/powerpoint/2010/main" val="41320451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46B11D-D6FF-DF9F-2E26-29CE035F94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8EE407A-67F7-9A0C-0D0A-FD0203859CF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BB97F8-183F-8B61-EF26-693B17DAF29E}"/>
              </a:ext>
            </a:extLst>
          </p:cNvPr>
          <p:cNvSpPr>
            <a:spLocks noGrp="1"/>
          </p:cNvSpPr>
          <p:nvPr>
            <p:ph type="dt" sz="half" idx="10"/>
          </p:nvPr>
        </p:nvSpPr>
        <p:spPr/>
        <p:txBody>
          <a:bodyPr/>
          <a:lstStyle/>
          <a:p>
            <a:fld id="{0C7E4CCC-E0AA-9B4E-86BA-B8E3254B34E7}" type="datetimeFigureOut">
              <a:rPr lang="en-US" smtClean="0"/>
              <a:t>5/9/26</a:t>
            </a:fld>
            <a:endParaRPr lang="en-US"/>
          </a:p>
        </p:txBody>
      </p:sp>
      <p:sp>
        <p:nvSpPr>
          <p:cNvPr id="5" name="Footer Placeholder 4">
            <a:extLst>
              <a:ext uri="{FF2B5EF4-FFF2-40B4-BE49-F238E27FC236}">
                <a16:creationId xmlns:a16="http://schemas.microsoft.com/office/drawing/2014/main" id="{FD921DA8-DEA1-AE66-E165-B0B9BF1700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D3EC20-E7F7-3B9E-7D29-F9C857F981F7}"/>
              </a:ext>
            </a:extLst>
          </p:cNvPr>
          <p:cNvSpPr>
            <a:spLocks noGrp="1"/>
          </p:cNvSpPr>
          <p:nvPr>
            <p:ph type="sldNum" sz="quarter" idx="12"/>
          </p:nvPr>
        </p:nvSpPr>
        <p:spPr/>
        <p:txBody>
          <a:bodyPr/>
          <a:lstStyle/>
          <a:p>
            <a:fld id="{75C860FA-4CBE-CC45-B777-760FDBC0AFB5}" type="slidenum">
              <a:rPr lang="en-US" smtClean="0"/>
              <a:t>‹#›</a:t>
            </a:fld>
            <a:endParaRPr lang="en-US"/>
          </a:p>
        </p:txBody>
      </p:sp>
    </p:spTree>
    <p:extLst>
      <p:ext uri="{BB962C8B-B14F-4D97-AF65-F5344CB8AC3E}">
        <p14:creationId xmlns:p14="http://schemas.microsoft.com/office/powerpoint/2010/main" val="542691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171596-7E77-6736-4FC4-6FB97B3C03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9574481-7097-FB6C-5FD7-E0513BAF8A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8E5E55-9155-E284-3886-7777A729E3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C7E4CCC-E0AA-9B4E-86BA-B8E3254B34E7}" type="datetimeFigureOut">
              <a:rPr lang="en-US" smtClean="0"/>
              <a:t>5/9/26</a:t>
            </a:fld>
            <a:endParaRPr lang="en-US"/>
          </a:p>
        </p:txBody>
      </p:sp>
      <p:sp>
        <p:nvSpPr>
          <p:cNvPr id="5" name="Footer Placeholder 4">
            <a:extLst>
              <a:ext uri="{FF2B5EF4-FFF2-40B4-BE49-F238E27FC236}">
                <a16:creationId xmlns:a16="http://schemas.microsoft.com/office/drawing/2014/main" id="{82A23C44-81CA-117F-12D2-B5EC8A2D0C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5BFEA0B-2797-9A71-D2D8-9A176654E8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C860FA-4CBE-CC45-B777-760FDBC0AFB5}" type="slidenum">
              <a:rPr lang="en-US" smtClean="0"/>
              <a:t>‹#›</a:t>
            </a:fld>
            <a:endParaRPr lang="en-US"/>
          </a:p>
        </p:txBody>
      </p:sp>
    </p:spTree>
    <p:extLst>
      <p:ext uri="{BB962C8B-B14F-4D97-AF65-F5344CB8AC3E}">
        <p14:creationId xmlns:p14="http://schemas.microsoft.com/office/powerpoint/2010/main" val="33202223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C4AB127-A1E0-5CA5-4BAE-65918979BF4D}"/>
              </a:ext>
            </a:extLst>
          </p:cNvPr>
          <p:cNvSpPr txBox="1"/>
          <p:nvPr/>
        </p:nvSpPr>
        <p:spPr>
          <a:xfrm>
            <a:off x="3053443" y="1589314"/>
            <a:ext cx="6085114" cy="3416320"/>
          </a:xfrm>
          <a:prstGeom prst="rect">
            <a:avLst/>
          </a:prstGeom>
          <a:noFill/>
        </p:spPr>
        <p:txBody>
          <a:bodyPr wrap="square" rtlCol="0">
            <a:spAutoFit/>
          </a:bodyPr>
          <a:lstStyle/>
          <a:p>
            <a:r>
              <a:rPr lang="el-GR" dirty="0"/>
              <a:t>Η </a:t>
            </a:r>
            <a:r>
              <a:rPr lang="el-GR" dirty="0" err="1"/>
              <a:t>επιχειρηματικ</a:t>
            </a:r>
            <a:r>
              <a:rPr lang="en-US" dirty="0" err="1"/>
              <a:t>ή</a:t>
            </a:r>
            <a:r>
              <a:rPr lang="el-GR" dirty="0"/>
              <a:t> ιδέα </a:t>
            </a:r>
            <a:r>
              <a:rPr lang="en-US" dirty="0" err="1"/>
              <a:t>instaviewme.com</a:t>
            </a:r>
            <a:r>
              <a:rPr lang="el-GR" dirty="0"/>
              <a:t>, καταγράφηκε 8 χρόνια </a:t>
            </a:r>
            <a:r>
              <a:rPr lang="el-GR" dirty="0" err="1"/>
              <a:t>πρίν</a:t>
            </a:r>
            <a:r>
              <a:rPr lang="el-GR" dirty="0"/>
              <a:t> σαν ένα ολοκληρωμένο </a:t>
            </a:r>
            <a:r>
              <a:rPr lang="en-US" dirty="0"/>
              <a:t>concept + business plan </a:t>
            </a:r>
            <a:r>
              <a:rPr lang="el-GR" dirty="0"/>
              <a:t>που θα λειτουργεί σε δύο επίπεδα. Σαν μεγάλη εικόνα και κάτω από το </a:t>
            </a:r>
            <a:r>
              <a:rPr lang="en-US" dirty="0"/>
              <a:t>marketing argument </a:t>
            </a:r>
            <a:r>
              <a:rPr lang="el-GR" dirty="0"/>
              <a:t>«Είσαι περισσότερα από το Βιογραφικό σου». Το όραμα είναι για ένα </a:t>
            </a:r>
            <a:r>
              <a:rPr lang="en-US" dirty="0"/>
              <a:t>pool </a:t>
            </a:r>
            <a:r>
              <a:rPr lang="el-GR" dirty="0"/>
              <a:t>το οποίο θα φιλοξενεί προφίλ υποψηφίων. Η καινοτομία σε αυτή την ενέργεια ήταν ένα βίντεο του ενός λεπτού, όπου θα μπορούσε ο καθένας υποψήφιος να </a:t>
            </a:r>
            <a:r>
              <a:rPr lang="el-GR" dirty="0" err="1"/>
              <a:t>πεί</a:t>
            </a:r>
            <a:r>
              <a:rPr lang="el-GR" dirty="0"/>
              <a:t> δύο λόγια για τον εαυτό του. Επειδή η συγκεκριμένη πλατφόρμα θεωρήθηκε πως θα είναι πολύ δύσκολη και δαπανηρή για να φτιαχτεί εστιάσαμε σε ένα συγκεκριμένο </a:t>
            </a:r>
            <a:r>
              <a:rPr lang="en-US" dirty="0"/>
              <a:t>function </a:t>
            </a:r>
            <a:r>
              <a:rPr lang="el-GR" dirty="0"/>
              <a:t>της όλης ιδέας που είναι η διαδικασία πρόσληψης. </a:t>
            </a:r>
            <a:r>
              <a:rPr lang="en-US" dirty="0" err="1"/>
              <a:t>Instaview</a:t>
            </a:r>
            <a:r>
              <a:rPr lang="en-US" dirty="0"/>
              <a:t> me #hiring process</a:t>
            </a:r>
          </a:p>
        </p:txBody>
      </p:sp>
    </p:spTree>
    <p:extLst>
      <p:ext uri="{BB962C8B-B14F-4D97-AF65-F5344CB8AC3E}">
        <p14:creationId xmlns:p14="http://schemas.microsoft.com/office/powerpoint/2010/main" val="177231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E0A82C5-BC48-642B-6845-7708D1985CA9}"/>
              </a:ext>
            </a:extLst>
          </p:cNvPr>
          <p:cNvPicPr>
            <a:picLocks noChangeAspect="1"/>
          </p:cNvPicPr>
          <p:nvPr/>
        </p:nvPicPr>
        <p:blipFill>
          <a:blip r:embed="rId2"/>
          <a:srcRect l="2003" t="25814" r="67605" b="61488"/>
          <a:stretch>
            <a:fillRect/>
          </a:stretch>
        </p:blipFill>
        <p:spPr>
          <a:xfrm>
            <a:off x="781051" y="1828802"/>
            <a:ext cx="2362200" cy="685800"/>
          </a:xfrm>
          <a:prstGeom prst="rect">
            <a:avLst/>
          </a:prstGeom>
        </p:spPr>
      </p:pic>
      <p:pic>
        <p:nvPicPr>
          <p:cNvPr id="5" name="Picture 4">
            <a:extLst>
              <a:ext uri="{FF2B5EF4-FFF2-40B4-BE49-F238E27FC236}">
                <a16:creationId xmlns:a16="http://schemas.microsoft.com/office/drawing/2014/main" id="{146C6D00-FA6D-7C47-EE5E-76BA4254B049}"/>
              </a:ext>
            </a:extLst>
          </p:cNvPr>
          <p:cNvPicPr>
            <a:picLocks noChangeAspect="1"/>
          </p:cNvPicPr>
          <p:nvPr/>
        </p:nvPicPr>
        <p:blipFill>
          <a:blip r:embed="rId2"/>
          <a:srcRect l="2003" t="4652" r="78739" b="75193"/>
          <a:stretch>
            <a:fillRect/>
          </a:stretch>
        </p:blipFill>
        <p:spPr>
          <a:xfrm>
            <a:off x="1106262" y="740228"/>
            <a:ext cx="1496786" cy="1088574"/>
          </a:xfrm>
          <a:prstGeom prst="rect">
            <a:avLst/>
          </a:prstGeom>
        </p:spPr>
      </p:pic>
      <p:sp>
        <p:nvSpPr>
          <p:cNvPr id="6" name="TextBox 5">
            <a:extLst>
              <a:ext uri="{FF2B5EF4-FFF2-40B4-BE49-F238E27FC236}">
                <a16:creationId xmlns:a16="http://schemas.microsoft.com/office/drawing/2014/main" id="{DC30BC0E-46B5-F9B7-48DD-1C1EA023B7DF}"/>
              </a:ext>
            </a:extLst>
          </p:cNvPr>
          <p:cNvSpPr txBox="1"/>
          <p:nvPr/>
        </p:nvSpPr>
        <p:spPr>
          <a:xfrm>
            <a:off x="3706587" y="925207"/>
            <a:ext cx="7704362" cy="5078313"/>
          </a:xfrm>
          <a:prstGeom prst="rect">
            <a:avLst/>
          </a:prstGeom>
          <a:noFill/>
        </p:spPr>
        <p:txBody>
          <a:bodyPr wrap="square" rtlCol="0">
            <a:spAutoFit/>
          </a:bodyPr>
          <a:lstStyle/>
          <a:p>
            <a:r>
              <a:rPr lang="el-GR" sz="1200" dirty="0"/>
              <a:t>Το </a:t>
            </a:r>
            <a:r>
              <a:rPr lang="en-US" sz="1200" dirty="0" err="1"/>
              <a:t>instaviewme</a:t>
            </a:r>
            <a:r>
              <a:rPr lang="en-US" sz="1200" dirty="0"/>
              <a:t>, </a:t>
            </a:r>
            <a:r>
              <a:rPr lang="el-GR" sz="1200" dirty="0"/>
              <a:t>είναι μια τεχνολογική ιδέα που έχει στόχο να κάνει </a:t>
            </a:r>
            <a:r>
              <a:rPr lang="en-US" sz="1200" dirty="0"/>
              <a:t>disrupt </a:t>
            </a:r>
            <a:r>
              <a:rPr lang="el-GR" sz="1200" dirty="0"/>
              <a:t>την διαδικασία (εύρεσης είναι όλο το </a:t>
            </a:r>
            <a:r>
              <a:rPr lang="el-GR" sz="1200" dirty="0" err="1"/>
              <a:t>κόνσεπτ</a:t>
            </a:r>
            <a:r>
              <a:rPr lang="el-GR" sz="1200" dirty="0"/>
              <a:t>) </a:t>
            </a:r>
            <a:r>
              <a:rPr lang="el-GR" sz="1200" b="1" dirty="0"/>
              <a:t>επιλογής</a:t>
            </a:r>
            <a:r>
              <a:rPr lang="el-GR" sz="1200" dirty="0"/>
              <a:t> εργαζομένων. Εστιάζει στην διαδικασία του πρώτου </a:t>
            </a:r>
            <a:r>
              <a:rPr lang="en-US" sz="1200" dirty="0"/>
              <a:t>short and screening</a:t>
            </a:r>
            <a:r>
              <a:rPr lang="el-GR" sz="1200" dirty="0"/>
              <a:t>, εμπλέκοντας τα </a:t>
            </a:r>
            <a:r>
              <a:rPr lang="en-US" sz="1200" dirty="0"/>
              <a:t>asynchronous video responses </a:t>
            </a:r>
            <a:r>
              <a:rPr lang="el-GR" sz="1200" dirty="0"/>
              <a:t>των </a:t>
            </a:r>
            <a:r>
              <a:rPr lang="el-GR" sz="1200" dirty="0" err="1"/>
              <a:t>υποψηφ</a:t>
            </a:r>
            <a:r>
              <a:rPr lang="en-US" sz="1200" dirty="0" err="1"/>
              <a:t>ί</a:t>
            </a:r>
            <a:r>
              <a:rPr lang="el-GR" sz="1200" dirty="0"/>
              <a:t>ων επιλύοντας αφενός την σπατάλη του χρόνου (σε ένα </a:t>
            </a:r>
            <a:r>
              <a:rPr lang="en-US" sz="1200" dirty="0"/>
              <a:t>online interview </a:t>
            </a:r>
            <a:r>
              <a:rPr lang="el-GR" sz="1200" dirty="0"/>
              <a:t>θα πρέπει αναγκαστικά να δαπανήσεις 30 λεπτά, να μιλήσεις με δύο λόγια για την εταιρεία, τα </a:t>
            </a:r>
            <a:r>
              <a:rPr lang="el-GR" sz="1200" dirty="0" err="1"/>
              <a:t>προιόντα</a:t>
            </a:r>
            <a:r>
              <a:rPr lang="el-GR" sz="1200" dirty="0"/>
              <a:t> και τις δραστηριότητές της, ακόμα και εάν έχεις αντιληφθεί από τα πρώτα 3 με 5 λεπτά ότι για κάποιον λόγο ο/η υποψήφιος δεν σου κάνει, και αφετέρου την δυσκολία να ταιριάξεις ελεύθερο χρονικό </a:t>
            </a:r>
            <a:r>
              <a:rPr lang="el-GR" sz="1200" dirty="0" err="1"/>
              <a:t>σλοτ</a:t>
            </a:r>
            <a:r>
              <a:rPr lang="el-GR" sz="1200" dirty="0"/>
              <a:t> μεταξύ ανθρώπου εντός του οργανισμού που μπορεί να κάνει ραντεβού σε συγκεκριμένο ωράριο και υποψηφίων που: μπορεί να μην μπορούν να </a:t>
            </a:r>
            <a:r>
              <a:rPr lang="el-GR" sz="1200" dirty="0" err="1"/>
              <a:t>βρούν</a:t>
            </a:r>
            <a:r>
              <a:rPr lang="el-GR" sz="1200" dirty="0"/>
              <a:t> εύκολα χρόνο στο συγκεκριμένο ωράριο-διότι εργάζονται ή για τον οποιοδήποτε άλλο λόγο. Θέλουμε δηλαδή ένα εργαλείο που τους 100 πρώτους υποψήφιους θα τους κάνει 50 μετά 10 και στο τέλος θα επενδύσεις τον χρόνο σου (και εσύ το στέλεχος αλλά και εσύ ο υποψήφιος, -αμοιβαία ωφέλεια) στους 5-10 που πραγματικά βλέπεις ότι κάτι έχουν και θέλεις να τους γνωρίσεις περισσότερο σε ένα </a:t>
            </a:r>
            <a:r>
              <a:rPr lang="en-US" sz="1200" dirty="0"/>
              <a:t>live – </a:t>
            </a:r>
            <a:r>
              <a:rPr lang="el-GR" sz="1200" dirty="0"/>
              <a:t>είτε </a:t>
            </a:r>
            <a:r>
              <a:rPr lang="el-GR" sz="1200" dirty="0" err="1"/>
              <a:t>διαζώσης</a:t>
            </a:r>
            <a:r>
              <a:rPr lang="el-GR" sz="1200" dirty="0"/>
              <a:t>, είτε ηλεκτρονικά.</a:t>
            </a:r>
          </a:p>
          <a:p>
            <a:endParaRPr lang="el-GR" sz="1200" dirty="0"/>
          </a:p>
          <a:p>
            <a:r>
              <a:rPr lang="el-GR" sz="1200" dirty="0"/>
              <a:t>Το </a:t>
            </a:r>
            <a:r>
              <a:rPr lang="en-US" sz="1200" dirty="0"/>
              <a:t>video messaging </a:t>
            </a:r>
            <a:r>
              <a:rPr lang="el-GR" sz="1200" dirty="0"/>
              <a:t>πλέον δεν είναι κάτι καινούριο, ούτε καινοτομία. (βέβαια όταν παρουσιάστηκε η ιδέα δεν ήταν τόσο πολύ χρησιμοποιούμενο)</a:t>
            </a:r>
          </a:p>
          <a:p>
            <a:endParaRPr lang="el-GR" sz="1200" dirty="0"/>
          </a:p>
          <a:p>
            <a:r>
              <a:rPr lang="el-GR" sz="1200" dirty="0"/>
              <a:t>Όμως μια ολοκληρωμένη ιδέα (δεν το λέω ακόμα πλατφόρμα γιατί έχει πολύ συγκεκριμένη στόχευση και δεν είναι τόσο </a:t>
            </a:r>
            <a:r>
              <a:rPr lang="en-US" sz="1200" dirty="0"/>
              <a:t>multi, </a:t>
            </a:r>
            <a:r>
              <a:rPr lang="el-GR" sz="1200" dirty="0"/>
              <a:t>ε</a:t>
            </a:r>
            <a:r>
              <a:rPr lang="en-US" sz="1200" dirty="0" err="1"/>
              <a:t>ί</a:t>
            </a:r>
            <a:r>
              <a:rPr lang="el-GR" sz="1200" dirty="0"/>
              <a:t>ναι </a:t>
            </a:r>
            <a:r>
              <a:rPr lang="en-US" sz="1200" dirty="0"/>
              <a:t>utility), </a:t>
            </a:r>
            <a:r>
              <a:rPr lang="en-US" sz="1200" dirty="0" err="1"/>
              <a:t>έ</a:t>
            </a:r>
            <a:r>
              <a:rPr lang="el-GR" sz="1200" dirty="0"/>
              <a:t>να </a:t>
            </a:r>
            <a:r>
              <a:rPr lang="en-US" sz="1200" dirty="0"/>
              <a:t>utility, </a:t>
            </a:r>
            <a:r>
              <a:rPr lang="el-GR" sz="1200" dirty="0"/>
              <a:t>με αρχή, μέση και αποτέλεσμα, ένα εργαλείο που θα πρέπει να είναι απλό και εύχρηστο. –Πλέον, δίνεται η δυνατότητα αυτού που περιγράφουμε μέσα από ακριβές πλατφόρμες που δίνουν πολλές επιλογές. Θέλω εδώ να αναφέρω το εξής: Με ενδιαφέρει ένα εργαλείο απόλυτα εστιασμένο στο αποτέλεσμα, στην διαδικασία. – δηλαδή ένα εργαλείο χωρίς θόρυβο.</a:t>
            </a:r>
          </a:p>
          <a:p>
            <a:endParaRPr lang="el-GR" sz="1200" dirty="0"/>
          </a:p>
          <a:p>
            <a:r>
              <a:rPr lang="el-GR" sz="1200" dirty="0"/>
              <a:t>Επίσης είναι ένα εργαλείο που μπορεί να αξιοποιηθεί ΧΩΡΙΣ να ανταγωνίζεται τις μεγάλες πλατφόρμες </a:t>
            </a:r>
            <a:r>
              <a:rPr lang="en-US" sz="1200" dirty="0"/>
              <a:t>job boards </a:t>
            </a:r>
            <a:r>
              <a:rPr lang="el-GR" sz="1200" dirty="0"/>
              <a:t>τύπου </a:t>
            </a:r>
            <a:r>
              <a:rPr lang="en-US" sz="1200" dirty="0" err="1"/>
              <a:t>linkedin</a:t>
            </a:r>
            <a:r>
              <a:rPr lang="en-US" sz="1200" dirty="0"/>
              <a:t>. </a:t>
            </a:r>
            <a:r>
              <a:rPr lang="el-GR" sz="1200" dirty="0"/>
              <a:t>(εν</a:t>
            </a:r>
            <a:r>
              <a:rPr lang="en-US" sz="1200" dirty="0" err="1"/>
              <a:t>ώ</a:t>
            </a:r>
            <a:r>
              <a:rPr lang="el-GR" sz="1200" dirty="0"/>
              <a:t> η μεγάλη ιδέα, το πλήρες </a:t>
            </a:r>
            <a:r>
              <a:rPr lang="el-GR" sz="1200" dirty="0" err="1"/>
              <a:t>κόνσεπτ</a:t>
            </a:r>
            <a:r>
              <a:rPr lang="el-GR" sz="1200" dirty="0"/>
              <a:t> εμπλέκεται στον μεγάλο ανταγωνισμό)</a:t>
            </a:r>
            <a:br>
              <a:rPr lang="el-GR" sz="1200" dirty="0"/>
            </a:br>
            <a:br>
              <a:rPr lang="el-GR" sz="1200" dirty="0"/>
            </a:br>
            <a:r>
              <a:rPr lang="el-GR" sz="1200" dirty="0"/>
              <a:t>Άρα για να είμαστε πρακτικοί.</a:t>
            </a:r>
            <a:br>
              <a:rPr lang="el-GR" sz="1200" dirty="0"/>
            </a:br>
            <a:r>
              <a:rPr lang="el-GR" sz="1200" dirty="0"/>
              <a:t>Μία εταιρεία λαμβάνει βιογραφικά με τους εξής δύο τρόπους: </a:t>
            </a:r>
            <a:endParaRPr lang="en-US" sz="1200" dirty="0"/>
          </a:p>
        </p:txBody>
      </p:sp>
    </p:spTree>
    <p:extLst>
      <p:ext uri="{BB962C8B-B14F-4D97-AF65-F5344CB8AC3E}">
        <p14:creationId xmlns:p14="http://schemas.microsoft.com/office/powerpoint/2010/main" val="1081491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516DBD4-AFC4-73B7-6EAE-CCACD125D33D}"/>
              </a:ext>
            </a:extLst>
          </p:cNvPr>
          <p:cNvSpPr txBox="1"/>
          <p:nvPr/>
        </p:nvSpPr>
        <p:spPr>
          <a:xfrm>
            <a:off x="2797629" y="441849"/>
            <a:ext cx="6096000" cy="3754874"/>
          </a:xfrm>
          <a:prstGeom prst="rect">
            <a:avLst/>
          </a:prstGeom>
          <a:noFill/>
        </p:spPr>
        <p:txBody>
          <a:bodyPr wrap="square">
            <a:spAutoFit/>
          </a:bodyPr>
          <a:lstStyle/>
          <a:p>
            <a:r>
              <a:rPr lang="el-GR" sz="1400" dirty="0"/>
              <a:t>Άρα για να είμαστε πρακτικοί.</a:t>
            </a:r>
          </a:p>
          <a:p>
            <a:r>
              <a:rPr lang="el-GR" sz="1400" dirty="0"/>
              <a:t>Ξεκινάμε από το εάν αυτός που προσλαμβάνει φτιάξει την διαδικασία </a:t>
            </a:r>
            <a:r>
              <a:rPr lang="en-US" sz="1400" dirty="0" err="1"/>
              <a:t>instaviewme</a:t>
            </a:r>
            <a:r>
              <a:rPr lang="en-US" sz="1400" dirty="0"/>
              <a:t> </a:t>
            </a:r>
            <a:r>
              <a:rPr lang="el-GR" sz="1400" dirty="0"/>
              <a:t>πριν ή μετά την δημοσίευση της αγγελίας. Δηλαδή, εάν φτιάξει την διαδικασία πρόσληψης από το </a:t>
            </a:r>
            <a:r>
              <a:rPr lang="en-US" sz="1400" dirty="0" err="1"/>
              <a:t>instaviewme</a:t>
            </a:r>
            <a:r>
              <a:rPr lang="en-US" sz="1400" dirty="0"/>
              <a:t> </a:t>
            </a:r>
            <a:r>
              <a:rPr lang="el-GR" sz="1400" dirty="0"/>
              <a:t>στο τέλος των βημάτων θα πάρει ένα </a:t>
            </a:r>
            <a:r>
              <a:rPr lang="el-GR" sz="1400" dirty="0" err="1"/>
              <a:t>λίνκ</a:t>
            </a:r>
            <a:r>
              <a:rPr lang="el-GR" sz="1400" dirty="0"/>
              <a:t>. Άρα στην δημοσίευση που θα κάνει θα γράψει: οι ενδιαφερόμενοι να </a:t>
            </a:r>
            <a:r>
              <a:rPr lang="el-GR" sz="1400" dirty="0" err="1"/>
              <a:t>κλικάρουν</a:t>
            </a:r>
            <a:r>
              <a:rPr lang="el-GR" sz="1400" dirty="0"/>
              <a:t> εδώ. </a:t>
            </a:r>
          </a:p>
          <a:p>
            <a:r>
              <a:rPr lang="el-GR" sz="1400" dirty="0"/>
              <a:t>Το μοναδικό κλειδί εδώ είναι το </a:t>
            </a:r>
            <a:r>
              <a:rPr lang="el-GR" sz="1400" dirty="0" err="1"/>
              <a:t>μέηλ</a:t>
            </a:r>
            <a:r>
              <a:rPr lang="el-GR" sz="1400" dirty="0"/>
              <a:t> των υποψηφίων.</a:t>
            </a:r>
          </a:p>
          <a:p>
            <a:r>
              <a:rPr lang="el-GR" sz="1400" dirty="0"/>
              <a:t>Α περίπτωση. Η εταιρεία τρέχει ήδη αγγελίες και έχει π.χ. 100 βιογραφικά. Στέλνει σε όλα τα </a:t>
            </a:r>
            <a:r>
              <a:rPr lang="el-GR" sz="1400" dirty="0" err="1"/>
              <a:t>μέηλ</a:t>
            </a:r>
            <a:r>
              <a:rPr lang="el-GR" sz="1400" dirty="0"/>
              <a:t> σύνδεσμο για να </a:t>
            </a:r>
            <a:r>
              <a:rPr lang="el-GR" sz="1400" dirty="0" err="1"/>
              <a:t>μπούν</a:t>
            </a:r>
            <a:r>
              <a:rPr lang="el-GR" sz="1400" dirty="0"/>
              <a:t> στο </a:t>
            </a:r>
            <a:r>
              <a:rPr lang="en-US" sz="1400" dirty="0" err="1"/>
              <a:t>instaview</a:t>
            </a:r>
            <a:r>
              <a:rPr lang="en-US" sz="1400" dirty="0"/>
              <a:t> me. </a:t>
            </a:r>
          </a:p>
          <a:p>
            <a:r>
              <a:rPr lang="el-GR" sz="1400" dirty="0"/>
              <a:t>Αλλιώς, με τον κανονικό τρόπο, ο εργοδότης δημοσιεύει  σε οποιοδήποτε μέσο θέλει. </a:t>
            </a:r>
            <a:r>
              <a:rPr lang="en-US" sz="1400" dirty="0" err="1"/>
              <a:t>Linkedin</a:t>
            </a:r>
            <a:r>
              <a:rPr lang="en-US" sz="1400" dirty="0"/>
              <a:t>, </a:t>
            </a:r>
            <a:r>
              <a:rPr lang="el-GR" sz="1400" dirty="0"/>
              <a:t>χρυσή ευκαιρία, ραδιόφωνο, από το ίδιο το εταιρικό </a:t>
            </a:r>
            <a:r>
              <a:rPr lang="en-US" sz="1400" dirty="0"/>
              <a:t>site</a:t>
            </a:r>
            <a:r>
              <a:rPr lang="el-GR" sz="1400" dirty="0"/>
              <a:t> ή με φυσικό τρόπο με εκτυπωμένο </a:t>
            </a:r>
            <a:r>
              <a:rPr lang="en-US" sz="1400" dirty="0" err="1"/>
              <a:t>qr</a:t>
            </a:r>
            <a:r>
              <a:rPr lang="en-US" sz="1400" dirty="0"/>
              <a:t> </a:t>
            </a:r>
            <a:r>
              <a:rPr lang="el-GR" sz="1400" dirty="0"/>
              <a:t>από επιχείρηση που επιθυμεί να προσλάβει, μπορεί να είναι από εστίαση, τουρισμό, λιανική καταστήματα…</a:t>
            </a:r>
            <a:endParaRPr lang="en-US" sz="1400" dirty="0"/>
          </a:p>
          <a:p>
            <a:endParaRPr lang="en-US" sz="1400" dirty="0"/>
          </a:p>
          <a:p>
            <a:r>
              <a:rPr lang="el-GR" sz="1400" b="1" dirty="0"/>
              <a:t>Πάμε να δούμε την διαδικασία.</a:t>
            </a:r>
          </a:p>
          <a:p>
            <a:r>
              <a:rPr lang="el-GR" sz="1400" b="1" dirty="0"/>
              <a:t>Ο εργοδότης θέλει να προσλάβει.</a:t>
            </a:r>
          </a:p>
          <a:p>
            <a:r>
              <a:rPr lang="el-GR" sz="1400" b="1" dirty="0"/>
              <a:t>Μπαίνει στο</a:t>
            </a:r>
            <a:r>
              <a:rPr lang="en-US" sz="1400" b="1" dirty="0"/>
              <a:t> </a:t>
            </a:r>
            <a:r>
              <a:rPr lang="en-US" sz="1400" b="1" dirty="0" err="1"/>
              <a:t>instaviewme.com</a:t>
            </a:r>
            <a:endParaRPr lang="en-US" sz="1400" b="1" dirty="0"/>
          </a:p>
        </p:txBody>
      </p:sp>
    </p:spTree>
    <p:extLst>
      <p:ext uri="{BB962C8B-B14F-4D97-AF65-F5344CB8AC3E}">
        <p14:creationId xmlns:p14="http://schemas.microsoft.com/office/powerpoint/2010/main" val="248362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39CA2E6-FCE2-8669-3736-9E4C733208B7}"/>
              </a:ext>
            </a:extLst>
          </p:cNvPr>
          <p:cNvPicPr>
            <a:picLocks noChangeAspect="1"/>
          </p:cNvPicPr>
          <p:nvPr/>
        </p:nvPicPr>
        <p:blipFill>
          <a:blip r:embed="rId2"/>
          <a:stretch>
            <a:fillRect/>
          </a:stretch>
        </p:blipFill>
        <p:spPr>
          <a:xfrm>
            <a:off x="342859" y="891915"/>
            <a:ext cx="7772400" cy="5074170"/>
          </a:xfrm>
          <a:prstGeom prst="rect">
            <a:avLst/>
          </a:prstGeom>
        </p:spPr>
      </p:pic>
      <p:sp>
        <p:nvSpPr>
          <p:cNvPr id="6" name="TextBox 5">
            <a:extLst>
              <a:ext uri="{FF2B5EF4-FFF2-40B4-BE49-F238E27FC236}">
                <a16:creationId xmlns:a16="http://schemas.microsoft.com/office/drawing/2014/main" id="{ECC6F551-085B-79D3-BA85-69C534E982D6}"/>
              </a:ext>
            </a:extLst>
          </p:cNvPr>
          <p:cNvSpPr txBox="1"/>
          <p:nvPr/>
        </p:nvSpPr>
        <p:spPr>
          <a:xfrm>
            <a:off x="8115259" y="891915"/>
            <a:ext cx="3516085" cy="3539430"/>
          </a:xfrm>
          <a:prstGeom prst="rect">
            <a:avLst/>
          </a:prstGeom>
          <a:noFill/>
        </p:spPr>
        <p:txBody>
          <a:bodyPr wrap="square">
            <a:spAutoFit/>
          </a:bodyPr>
          <a:lstStyle/>
          <a:p>
            <a:r>
              <a:rPr lang="el-GR" sz="1400" b="1" dirty="0"/>
              <a:t>Αυτή είναι η αρχική.</a:t>
            </a:r>
          </a:p>
          <a:p>
            <a:r>
              <a:rPr lang="el-GR" sz="1400" b="1" dirty="0"/>
              <a:t>Επεξηγεί στον χρήστη ότι θα φτιάξει μια ψηφιοποιημένη διαδικασία </a:t>
            </a:r>
            <a:r>
              <a:rPr lang="en-US" sz="1400" b="1" dirty="0"/>
              <a:t>screening</a:t>
            </a:r>
            <a:r>
              <a:rPr lang="el-GR" sz="1400" b="1" dirty="0"/>
              <a:t>, που αποτελείται από 3 βήματα. 1. Γράψε τρείς ερωτήσεις – θέματα που θα ήθελες να σχολιάσει – απαντήσει – αναφερθεί ο υποψήφιος. 2</a:t>
            </a:r>
            <a:r>
              <a:rPr lang="el-GR" sz="1400" b="1" baseline="30000" dirty="0"/>
              <a:t>ο</a:t>
            </a:r>
            <a:r>
              <a:rPr lang="el-GR" sz="1400" b="1" dirty="0"/>
              <a:t> βήμα δώσε </a:t>
            </a:r>
            <a:r>
              <a:rPr lang="el-GR" sz="1400" b="1" dirty="0" err="1"/>
              <a:t>ντέντλαιν</a:t>
            </a:r>
            <a:r>
              <a:rPr lang="el-GR" sz="1400" b="1" dirty="0"/>
              <a:t>. Πότε θέλεις να πάρεις τις απαντήσεις του πρώτου γύρου 3 ο βήμα (του λέμε) πάρε ένα </a:t>
            </a:r>
            <a:r>
              <a:rPr lang="el-GR" sz="1400" b="1" dirty="0" err="1"/>
              <a:t>λίνκ</a:t>
            </a:r>
            <a:r>
              <a:rPr lang="el-GR" sz="1400" b="1" dirty="0"/>
              <a:t> και δώσε το σε κάθε υποψήφιο.</a:t>
            </a:r>
            <a:br>
              <a:rPr lang="el-GR" sz="1400" b="1" dirty="0"/>
            </a:br>
            <a:r>
              <a:rPr lang="el-GR" sz="1400" b="1" dirty="0"/>
              <a:t>Αφού λοιπόν ψηθεί, πατάει το ξεκίνα τώρα δωρεάν. </a:t>
            </a:r>
          </a:p>
          <a:p>
            <a:r>
              <a:rPr lang="el-GR" sz="1400" b="1" dirty="0"/>
              <a:t>Εδώ αυτή η εικόνα που είναι στο λευκό τετράγωνο θα γίνει τύπου </a:t>
            </a:r>
            <a:r>
              <a:rPr lang="el-GR" sz="1400" b="1" dirty="0" err="1"/>
              <a:t>καρουζέλ</a:t>
            </a:r>
            <a:r>
              <a:rPr lang="el-GR" sz="1400" b="1" dirty="0"/>
              <a:t> και θα αλλάξει τύπου </a:t>
            </a:r>
            <a:r>
              <a:rPr lang="en-US" sz="1400" b="1" dirty="0"/>
              <a:t>slide</a:t>
            </a:r>
            <a:r>
              <a:rPr lang="el-GR" sz="1400" b="1" dirty="0"/>
              <a:t> και θα πέσει η παρακάτω εικόνα</a:t>
            </a:r>
            <a:endParaRPr lang="en-US" sz="1400" b="1" dirty="0"/>
          </a:p>
        </p:txBody>
      </p:sp>
    </p:spTree>
    <p:extLst>
      <p:ext uri="{BB962C8B-B14F-4D97-AF65-F5344CB8AC3E}">
        <p14:creationId xmlns:p14="http://schemas.microsoft.com/office/powerpoint/2010/main" val="42537453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03774AD-CE40-5315-813F-08F2D546A0E3}"/>
              </a:ext>
            </a:extLst>
          </p:cNvPr>
          <p:cNvSpPr txBox="1"/>
          <p:nvPr/>
        </p:nvSpPr>
        <p:spPr>
          <a:xfrm>
            <a:off x="6874108" y="2449677"/>
            <a:ext cx="4164006" cy="646331"/>
          </a:xfrm>
          <a:prstGeom prst="rect">
            <a:avLst/>
          </a:prstGeom>
          <a:noFill/>
        </p:spPr>
        <p:txBody>
          <a:bodyPr wrap="square">
            <a:spAutoFit/>
          </a:bodyPr>
          <a:lstStyle/>
          <a:p>
            <a:r>
              <a:rPr lang="el-GR" sz="1200" b="1" dirty="0" err="1"/>
              <a:t>Λές</a:t>
            </a:r>
            <a:r>
              <a:rPr lang="el-GR" sz="1200" b="1" dirty="0"/>
              <a:t> του εργοδότη, δώσε το όνομα της εταιρείας και τον τίτλο της θέσης, που </a:t>
            </a:r>
            <a:r>
              <a:rPr lang="el-GR" sz="1200" b="1" dirty="0" err="1"/>
              <a:t>θές</a:t>
            </a:r>
            <a:r>
              <a:rPr lang="el-GR" sz="1200" b="1" dirty="0"/>
              <a:t> να προσλάβεις.</a:t>
            </a:r>
            <a:br>
              <a:rPr lang="el-GR" sz="1200" b="1" dirty="0"/>
            </a:br>
            <a:r>
              <a:rPr lang="el-GR" sz="1200" b="1" dirty="0"/>
              <a:t>Π.χ. </a:t>
            </a:r>
            <a:r>
              <a:rPr lang="en-US" sz="1200" b="1" dirty="0"/>
              <a:t>Falcon ingredients, Retail Store Merchandiser </a:t>
            </a:r>
            <a:endParaRPr lang="en-US" sz="1200" dirty="0"/>
          </a:p>
        </p:txBody>
      </p:sp>
      <p:pic>
        <p:nvPicPr>
          <p:cNvPr id="7" name="Picture 6">
            <a:extLst>
              <a:ext uri="{FF2B5EF4-FFF2-40B4-BE49-F238E27FC236}">
                <a16:creationId xmlns:a16="http://schemas.microsoft.com/office/drawing/2014/main" id="{0F56EE91-83C5-D82E-EFB9-6CE7C9AF6E08}"/>
              </a:ext>
            </a:extLst>
          </p:cNvPr>
          <p:cNvPicPr>
            <a:picLocks noChangeAspect="1"/>
          </p:cNvPicPr>
          <p:nvPr/>
        </p:nvPicPr>
        <p:blipFill>
          <a:blip r:embed="rId2"/>
          <a:stretch>
            <a:fillRect/>
          </a:stretch>
        </p:blipFill>
        <p:spPr>
          <a:xfrm>
            <a:off x="245151" y="925286"/>
            <a:ext cx="6451950" cy="4452257"/>
          </a:xfrm>
          <a:prstGeom prst="rect">
            <a:avLst/>
          </a:prstGeom>
        </p:spPr>
      </p:pic>
    </p:spTree>
    <p:extLst>
      <p:ext uri="{BB962C8B-B14F-4D97-AF65-F5344CB8AC3E}">
        <p14:creationId xmlns:p14="http://schemas.microsoft.com/office/powerpoint/2010/main" val="1801570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1AA8F29-BA96-CF90-255D-9970F49A0A84}"/>
              </a:ext>
            </a:extLst>
          </p:cNvPr>
          <p:cNvPicPr>
            <a:picLocks noChangeAspect="1"/>
          </p:cNvPicPr>
          <p:nvPr/>
        </p:nvPicPr>
        <p:blipFill>
          <a:blip r:embed="rId2"/>
          <a:stretch>
            <a:fillRect/>
          </a:stretch>
        </p:blipFill>
        <p:spPr>
          <a:xfrm>
            <a:off x="456292" y="870857"/>
            <a:ext cx="6804479" cy="4689321"/>
          </a:xfrm>
          <a:prstGeom prst="rect">
            <a:avLst/>
          </a:prstGeom>
        </p:spPr>
      </p:pic>
      <p:sp>
        <p:nvSpPr>
          <p:cNvPr id="6" name="TextBox 5">
            <a:extLst>
              <a:ext uri="{FF2B5EF4-FFF2-40B4-BE49-F238E27FC236}">
                <a16:creationId xmlns:a16="http://schemas.microsoft.com/office/drawing/2014/main" id="{65BDADC1-BAA7-A0C6-AF7F-5D4CB787194D}"/>
              </a:ext>
            </a:extLst>
          </p:cNvPr>
          <p:cNvSpPr txBox="1"/>
          <p:nvPr/>
        </p:nvSpPr>
        <p:spPr>
          <a:xfrm>
            <a:off x="7260771" y="2569420"/>
            <a:ext cx="4164006" cy="1015663"/>
          </a:xfrm>
          <a:prstGeom prst="rect">
            <a:avLst/>
          </a:prstGeom>
          <a:noFill/>
        </p:spPr>
        <p:txBody>
          <a:bodyPr wrap="square">
            <a:spAutoFit/>
          </a:bodyPr>
          <a:lstStyle/>
          <a:p>
            <a:r>
              <a:rPr lang="el-GR" sz="1200" dirty="0"/>
              <a:t>Η εικόνα εστιάζει στο πρώτο βήμα που είναι: </a:t>
            </a:r>
          </a:p>
          <a:p>
            <a:r>
              <a:rPr lang="el-GR" sz="1200" dirty="0"/>
              <a:t>Γράψε τα θέματα στα οποία θέλεις να αναφερθεί ο υποψήφιος. </a:t>
            </a:r>
          </a:p>
          <a:p>
            <a:r>
              <a:rPr lang="el-GR" sz="1200" dirty="0"/>
              <a:t>Στο σημείο αυτό σημειώνω ερωτήσεις γνωριμίας </a:t>
            </a:r>
            <a:r>
              <a:rPr lang="en-US" sz="1200" dirty="0"/>
              <a:t>;</a:t>
            </a:r>
            <a:r>
              <a:rPr lang="en-US" sz="1200" dirty="0" err="1"/>
              <a:t>ό</a:t>
            </a:r>
            <a:r>
              <a:rPr lang="el-GR" sz="1200" dirty="0" err="1"/>
              <a:t>νομα</a:t>
            </a:r>
            <a:r>
              <a:rPr lang="el-GR" sz="1200" dirty="0"/>
              <a:t>, που μένεις,  </a:t>
            </a:r>
            <a:r>
              <a:rPr lang="el-GR" sz="1200" dirty="0" err="1"/>
              <a:t>κλπ</a:t>
            </a:r>
            <a:r>
              <a:rPr lang="el-GR" sz="1200" dirty="0"/>
              <a:t> </a:t>
            </a:r>
            <a:r>
              <a:rPr lang="en-US" sz="1200" dirty="0"/>
              <a:t>by default</a:t>
            </a:r>
          </a:p>
        </p:txBody>
      </p:sp>
    </p:spTree>
    <p:extLst>
      <p:ext uri="{BB962C8B-B14F-4D97-AF65-F5344CB8AC3E}">
        <p14:creationId xmlns:p14="http://schemas.microsoft.com/office/powerpoint/2010/main" val="9981507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59AD0FC-6B64-057B-E8B7-FFEDBAD3C16D}"/>
              </a:ext>
            </a:extLst>
          </p:cNvPr>
          <p:cNvPicPr>
            <a:picLocks noChangeAspect="1"/>
          </p:cNvPicPr>
          <p:nvPr/>
        </p:nvPicPr>
        <p:blipFill>
          <a:blip r:embed="rId2"/>
          <a:stretch>
            <a:fillRect/>
          </a:stretch>
        </p:blipFill>
        <p:spPr>
          <a:xfrm>
            <a:off x="283666" y="1241706"/>
            <a:ext cx="6661420" cy="4663601"/>
          </a:xfrm>
          <a:prstGeom prst="rect">
            <a:avLst/>
          </a:prstGeom>
        </p:spPr>
      </p:pic>
      <p:sp>
        <p:nvSpPr>
          <p:cNvPr id="6" name="TextBox 5">
            <a:extLst>
              <a:ext uri="{FF2B5EF4-FFF2-40B4-BE49-F238E27FC236}">
                <a16:creationId xmlns:a16="http://schemas.microsoft.com/office/drawing/2014/main" id="{F030A14F-5E39-3C99-A819-E969A96C3B8C}"/>
              </a:ext>
            </a:extLst>
          </p:cNvPr>
          <p:cNvSpPr txBox="1"/>
          <p:nvPr/>
        </p:nvSpPr>
        <p:spPr>
          <a:xfrm>
            <a:off x="7260771" y="2569420"/>
            <a:ext cx="4164006" cy="646331"/>
          </a:xfrm>
          <a:prstGeom prst="rect">
            <a:avLst/>
          </a:prstGeom>
          <a:noFill/>
        </p:spPr>
        <p:txBody>
          <a:bodyPr wrap="square">
            <a:spAutoFit/>
          </a:bodyPr>
          <a:lstStyle/>
          <a:p>
            <a:r>
              <a:rPr lang="el-GR" sz="1200" dirty="0"/>
              <a:t>Επόμενο βήμα,</a:t>
            </a:r>
          </a:p>
          <a:p>
            <a:r>
              <a:rPr lang="el-GR" sz="1200" dirty="0"/>
              <a:t>Λέμε στον εργοδότη: σημείωσε μέχρι πότε θέλεις να λάβεις τις απαντήσεις  του πρώτου κύκλου.</a:t>
            </a:r>
          </a:p>
        </p:txBody>
      </p:sp>
    </p:spTree>
    <p:extLst>
      <p:ext uri="{BB962C8B-B14F-4D97-AF65-F5344CB8AC3E}">
        <p14:creationId xmlns:p14="http://schemas.microsoft.com/office/powerpoint/2010/main" val="2366391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D45458E-1D96-F395-2749-0DFAA44D0E40}"/>
              </a:ext>
            </a:extLst>
          </p:cNvPr>
          <p:cNvSpPr txBox="1"/>
          <p:nvPr/>
        </p:nvSpPr>
        <p:spPr>
          <a:xfrm>
            <a:off x="8027994" y="2155763"/>
            <a:ext cx="4164006" cy="830997"/>
          </a:xfrm>
          <a:prstGeom prst="rect">
            <a:avLst/>
          </a:prstGeom>
          <a:noFill/>
        </p:spPr>
        <p:txBody>
          <a:bodyPr wrap="square">
            <a:spAutoFit/>
          </a:bodyPr>
          <a:lstStyle/>
          <a:p>
            <a:r>
              <a:rPr lang="el-GR" sz="1200" dirty="0"/>
              <a:t>Τρίτο βήμα, </a:t>
            </a:r>
          </a:p>
          <a:p>
            <a:r>
              <a:rPr lang="el-GR" sz="1200" dirty="0"/>
              <a:t>Λέμε στον εργοδότη δώσε μας το </a:t>
            </a:r>
            <a:r>
              <a:rPr lang="el-GR" sz="1200" dirty="0" err="1"/>
              <a:t>μέηλ</a:t>
            </a:r>
            <a:r>
              <a:rPr lang="el-GR" sz="1200" dirty="0"/>
              <a:t> σου για να γίνει ή εγγραφή (εάν δεν είναι εγγεγραμμένος ) ή σε κάθε περίπτωση για να πάρεις το </a:t>
            </a:r>
            <a:r>
              <a:rPr lang="el-GR" sz="1200" dirty="0" err="1"/>
              <a:t>λινκ</a:t>
            </a:r>
            <a:r>
              <a:rPr lang="el-GR" sz="1200" dirty="0"/>
              <a:t>.</a:t>
            </a:r>
          </a:p>
        </p:txBody>
      </p:sp>
      <p:pic>
        <p:nvPicPr>
          <p:cNvPr id="6" name="Picture 5">
            <a:extLst>
              <a:ext uri="{FF2B5EF4-FFF2-40B4-BE49-F238E27FC236}">
                <a16:creationId xmlns:a16="http://schemas.microsoft.com/office/drawing/2014/main" id="{F2929DC4-C5C9-4B0A-1C8C-DC0ED863F690}"/>
              </a:ext>
            </a:extLst>
          </p:cNvPr>
          <p:cNvPicPr>
            <a:picLocks noChangeAspect="1"/>
          </p:cNvPicPr>
          <p:nvPr/>
        </p:nvPicPr>
        <p:blipFill>
          <a:blip r:embed="rId2"/>
          <a:stretch>
            <a:fillRect/>
          </a:stretch>
        </p:blipFill>
        <p:spPr>
          <a:xfrm>
            <a:off x="163174" y="1197429"/>
            <a:ext cx="7772400" cy="5047947"/>
          </a:xfrm>
          <a:prstGeom prst="rect">
            <a:avLst/>
          </a:prstGeom>
        </p:spPr>
      </p:pic>
    </p:spTree>
    <p:extLst>
      <p:ext uri="{BB962C8B-B14F-4D97-AF65-F5344CB8AC3E}">
        <p14:creationId xmlns:p14="http://schemas.microsoft.com/office/powerpoint/2010/main" val="7685768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ED9B335-3FF1-1F0F-056C-217E72F06339}"/>
              </a:ext>
            </a:extLst>
          </p:cNvPr>
          <p:cNvPicPr>
            <a:picLocks noChangeAspect="1"/>
          </p:cNvPicPr>
          <p:nvPr/>
        </p:nvPicPr>
        <p:blipFill>
          <a:blip r:embed="rId2"/>
          <a:stretch>
            <a:fillRect/>
          </a:stretch>
        </p:blipFill>
        <p:spPr>
          <a:xfrm>
            <a:off x="455823" y="1034534"/>
            <a:ext cx="7772400" cy="5320941"/>
          </a:xfrm>
          <a:prstGeom prst="rect">
            <a:avLst/>
          </a:prstGeom>
        </p:spPr>
      </p:pic>
      <p:sp>
        <p:nvSpPr>
          <p:cNvPr id="5" name="TextBox 4">
            <a:extLst>
              <a:ext uri="{FF2B5EF4-FFF2-40B4-BE49-F238E27FC236}">
                <a16:creationId xmlns:a16="http://schemas.microsoft.com/office/drawing/2014/main" id="{759C3A45-85EA-2427-0EE7-45C9C2524F38}"/>
              </a:ext>
            </a:extLst>
          </p:cNvPr>
          <p:cNvSpPr txBox="1"/>
          <p:nvPr/>
        </p:nvSpPr>
        <p:spPr>
          <a:xfrm>
            <a:off x="8149114" y="1883620"/>
            <a:ext cx="3587063" cy="1754326"/>
          </a:xfrm>
          <a:prstGeom prst="rect">
            <a:avLst/>
          </a:prstGeom>
          <a:noFill/>
        </p:spPr>
        <p:txBody>
          <a:bodyPr wrap="square">
            <a:spAutoFit/>
          </a:bodyPr>
          <a:lstStyle/>
          <a:p>
            <a:r>
              <a:rPr lang="el-GR" sz="1200" dirty="0"/>
              <a:t>Ευχαριστείς τον εργοδότη για την διαδικασία που έφτιαξε και του </a:t>
            </a:r>
            <a:r>
              <a:rPr lang="el-GR" sz="1200" dirty="0" err="1"/>
              <a:t>λές</a:t>
            </a:r>
            <a:r>
              <a:rPr lang="el-GR" sz="1200" dirty="0"/>
              <a:t>: μοιράσου τον κωδικό – το </a:t>
            </a:r>
            <a:r>
              <a:rPr lang="en-US" sz="1200" dirty="0" err="1"/>
              <a:t>qr</a:t>
            </a:r>
            <a:r>
              <a:rPr lang="en-US" sz="1200" dirty="0"/>
              <a:t> </a:t>
            </a:r>
            <a:r>
              <a:rPr lang="el-GR" sz="1200" dirty="0"/>
              <a:t>που έφτιαξες με όσο περισσότερους ενδιαφερόμενους θέλεις, τώρα η διαδικασία έγινε πιο εύκολα, του εξηγείς ότι το επόμενο βήμα είναι η διαδικασία της αξιολόγησης και των αποφάσεων και τρία του υποδεικνύεις τι πρέπει να κάνει με το να περάσει στο επόμενο βήμα τους υποψηφίους που επιθυμεί. </a:t>
            </a:r>
          </a:p>
        </p:txBody>
      </p:sp>
    </p:spTree>
    <p:extLst>
      <p:ext uri="{BB962C8B-B14F-4D97-AF65-F5344CB8AC3E}">
        <p14:creationId xmlns:p14="http://schemas.microsoft.com/office/powerpoint/2010/main" val="702029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F0B85A2-FC85-84BB-E8F6-AC24FB41A35E}"/>
              </a:ext>
            </a:extLst>
          </p:cNvPr>
          <p:cNvPicPr>
            <a:picLocks noChangeAspect="1"/>
          </p:cNvPicPr>
          <p:nvPr/>
        </p:nvPicPr>
        <p:blipFill>
          <a:blip r:embed="rId2"/>
          <a:stretch>
            <a:fillRect/>
          </a:stretch>
        </p:blipFill>
        <p:spPr>
          <a:xfrm>
            <a:off x="391885" y="700104"/>
            <a:ext cx="7772400" cy="5457791"/>
          </a:xfrm>
          <a:prstGeom prst="rect">
            <a:avLst/>
          </a:prstGeom>
        </p:spPr>
      </p:pic>
      <p:sp>
        <p:nvSpPr>
          <p:cNvPr id="3" name="TextBox 2">
            <a:extLst>
              <a:ext uri="{FF2B5EF4-FFF2-40B4-BE49-F238E27FC236}">
                <a16:creationId xmlns:a16="http://schemas.microsoft.com/office/drawing/2014/main" id="{C66D68AA-9E18-EAEE-2464-8B51537C2D0E}"/>
              </a:ext>
            </a:extLst>
          </p:cNvPr>
          <p:cNvSpPr txBox="1"/>
          <p:nvPr/>
        </p:nvSpPr>
        <p:spPr>
          <a:xfrm>
            <a:off x="8149114" y="1883620"/>
            <a:ext cx="3587063" cy="3970318"/>
          </a:xfrm>
          <a:prstGeom prst="rect">
            <a:avLst/>
          </a:prstGeom>
          <a:noFill/>
        </p:spPr>
        <p:txBody>
          <a:bodyPr wrap="square">
            <a:spAutoFit/>
          </a:bodyPr>
          <a:lstStyle/>
          <a:p>
            <a:r>
              <a:rPr lang="el-GR" sz="1200" dirty="0" err="1"/>
              <a:t>Οθ</a:t>
            </a:r>
            <a:r>
              <a:rPr lang="en-US" sz="1200" dirty="0" err="1"/>
              <a:t>ό</a:t>
            </a:r>
            <a:r>
              <a:rPr lang="el-GR" sz="1200" dirty="0" err="1"/>
              <a:t>νη</a:t>
            </a:r>
            <a:r>
              <a:rPr lang="el-GR" sz="1200" dirty="0"/>
              <a:t> απάντηση υποψηφίου.</a:t>
            </a:r>
          </a:p>
          <a:p>
            <a:r>
              <a:rPr lang="el-GR" sz="1200" dirty="0"/>
              <a:t>Εδώ ο υποψήφιος βλέπει σε ποιο στάδιο απαντάει.</a:t>
            </a:r>
          </a:p>
          <a:p>
            <a:r>
              <a:rPr lang="el-GR" sz="1200" dirty="0"/>
              <a:t>Σημειώνει</a:t>
            </a:r>
            <a:r>
              <a:rPr lang="en-US" sz="1200" dirty="0"/>
              <a:t>:</a:t>
            </a:r>
          </a:p>
          <a:p>
            <a:r>
              <a:rPr lang="en-US" sz="1200" dirty="0"/>
              <a:t>Full name</a:t>
            </a:r>
          </a:p>
          <a:p>
            <a:r>
              <a:rPr lang="en-US" sz="1200" dirty="0"/>
              <a:t>Age range</a:t>
            </a:r>
          </a:p>
          <a:p>
            <a:r>
              <a:rPr lang="en-US" sz="1200" dirty="0"/>
              <a:t>Country….</a:t>
            </a:r>
          </a:p>
          <a:p>
            <a:r>
              <a:rPr lang="el-GR" sz="1200" dirty="0"/>
              <a:t>Στο </a:t>
            </a:r>
            <a:r>
              <a:rPr lang="en-US" sz="1200" dirty="0"/>
              <a:t>phone number and</a:t>
            </a:r>
            <a:br>
              <a:rPr lang="en-US" sz="1200" dirty="0"/>
            </a:br>
            <a:r>
              <a:rPr lang="en-US" sz="1200" dirty="0"/>
              <a:t>email </a:t>
            </a:r>
            <a:r>
              <a:rPr lang="el-GR" sz="1200" dirty="0"/>
              <a:t>προτείνω να γίνει και </a:t>
            </a:r>
            <a:r>
              <a:rPr lang="en-US" sz="1200" dirty="0"/>
              <a:t>verification with </a:t>
            </a:r>
            <a:r>
              <a:rPr lang="en-US" sz="1200" dirty="0" err="1"/>
              <a:t>otp</a:t>
            </a:r>
            <a:r>
              <a:rPr lang="en-US" sz="1200" dirty="0"/>
              <a:t> sent to both</a:t>
            </a:r>
          </a:p>
          <a:p>
            <a:r>
              <a:rPr lang="el-GR" sz="1200" dirty="0"/>
              <a:t>Στη συν</a:t>
            </a:r>
            <a:r>
              <a:rPr lang="en-US" sz="1200" dirty="0" err="1"/>
              <a:t>έ</a:t>
            </a:r>
            <a:r>
              <a:rPr lang="el-GR" sz="1200" dirty="0" err="1"/>
              <a:t>χεια</a:t>
            </a:r>
            <a:r>
              <a:rPr lang="el-GR" sz="1200" dirty="0"/>
              <a:t> τα θέματα, τα οποία είναι </a:t>
            </a:r>
            <a:r>
              <a:rPr lang="el-GR" sz="1200" dirty="0" err="1"/>
              <a:t>θολ</a:t>
            </a:r>
            <a:r>
              <a:rPr lang="en-US" sz="1200" dirty="0" err="1"/>
              <a:t>ά</a:t>
            </a:r>
            <a:r>
              <a:rPr lang="el-GR" sz="1200" dirty="0"/>
              <a:t> δεν φαίνονται.</a:t>
            </a:r>
          </a:p>
          <a:p>
            <a:r>
              <a:rPr lang="el-GR" sz="1200" dirty="0"/>
              <a:t>Εδώ θέλω να το </a:t>
            </a:r>
            <a:r>
              <a:rPr lang="el-GR" sz="1200" dirty="0" err="1"/>
              <a:t>δώ</a:t>
            </a:r>
            <a:r>
              <a:rPr lang="el-GR" sz="1200" dirty="0"/>
              <a:t> με τον τεχνικό που θα το φτιάξει. </a:t>
            </a:r>
            <a:br>
              <a:rPr lang="el-GR" sz="1200" dirty="0"/>
            </a:br>
            <a:r>
              <a:rPr lang="el-GR" sz="1200" dirty="0"/>
              <a:t>Δηλαδή, θέλω οι απαντήσεις να είναι αυθόρμητες, άρα δεν πρέπει να φαίνονται. Επίσης η κάμερα θα πρέπει να μπορεί να την ανοίξει ο χρήστης για να </a:t>
            </a:r>
            <a:r>
              <a:rPr lang="el-GR" sz="1200" dirty="0" err="1"/>
              <a:t>δεί</a:t>
            </a:r>
            <a:r>
              <a:rPr lang="el-GR" sz="1200" dirty="0"/>
              <a:t> την εικόνα του </a:t>
            </a:r>
            <a:r>
              <a:rPr lang="el-GR" sz="1200" dirty="0" err="1"/>
              <a:t>πρίν</a:t>
            </a:r>
            <a:r>
              <a:rPr lang="el-GR" sz="1200" dirty="0"/>
              <a:t> γράψει την απάντηση.</a:t>
            </a:r>
          </a:p>
          <a:p>
            <a:r>
              <a:rPr lang="el-GR" sz="1200" dirty="0"/>
              <a:t>Μετά, προτείνω να ανοίγει ένα 4λεπτο όπου ο υποψήφιος θα μπορεί να γυρίσει την απάντησή του μέχρι και δύο φορές.</a:t>
            </a:r>
          </a:p>
          <a:p>
            <a:endParaRPr lang="el-GR" sz="1200" dirty="0"/>
          </a:p>
        </p:txBody>
      </p:sp>
    </p:spTree>
    <p:extLst>
      <p:ext uri="{BB962C8B-B14F-4D97-AF65-F5344CB8AC3E}">
        <p14:creationId xmlns:p14="http://schemas.microsoft.com/office/powerpoint/2010/main" val="964639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5273C60-DC6E-C9CE-9518-0580B4DABFA6}"/>
              </a:ext>
            </a:extLst>
          </p:cNvPr>
          <p:cNvPicPr>
            <a:picLocks noChangeAspect="1"/>
          </p:cNvPicPr>
          <p:nvPr/>
        </p:nvPicPr>
        <p:blipFill>
          <a:blip r:embed="rId2"/>
          <a:stretch>
            <a:fillRect/>
          </a:stretch>
        </p:blipFill>
        <p:spPr>
          <a:xfrm>
            <a:off x="185212" y="740028"/>
            <a:ext cx="7013916" cy="5639002"/>
          </a:xfrm>
          <a:prstGeom prst="rect">
            <a:avLst/>
          </a:prstGeom>
        </p:spPr>
      </p:pic>
      <p:sp>
        <p:nvSpPr>
          <p:cNvPr id="7" name="TextBox 6">
            <a:extLst>
              <a:ext uri="{FF2B5EF4-FFF2-40B4-BE49-F238E27FC236}">
                <a16:creationId xmlns:a16="http://schemas.microsoft.com/office/drawing/2014/main" id="{F94633BE-5007-D7EC-3388-4432EDE7E86D}"/>
              </a:ext>
            </a:extLst>
          </p:cNvPr>
          <p:cNvSpPr txBox="1"/>
          <p:nvPr/>
        </p:nvSpPr>
        <p:spPr>
          <a:xfrm>
            <a:off x="7336971" y="983120"/>
            <a:ext cx="3951515" cy="2462213"/>
          </a:xfrm>
          <a:prstGeom prst="rect">
            <a:avLst/>
          </a:prstGeom>
          <a:noFill/>
        </p:spPr>
        <p:txBody>
          <a:bodyPr wrap="square">
            <a:spAutoFit/>
          </a:bodyPr>
          <a:lstStyle/>
          <a:p>
            <a:r>
              <a:rPr lang="el-GR" sz="1400" dirty="0"/>
              <a:t>Και εδώ ένα απλό πάνελ για τον εργοδότη όπου βλέπει τα βίντεο των υποψηφίων, αποφασίζει εάν τον περνάει ή όχι, τις ερωτήσεις που ο ίδιος έβαλε προς απάντηση και στοιχεία επικοινωνίας.</a:t>
            </a:r>
          </a:p>
          <a:p>
            <a:r>
              <a:rPr lang="el-GR" sz="1400" dirty="0"/>
              <a:t>Βλέπουμε το κουμπί </a:t>
            </a:r>
            <a:r>
              <a:rPr lang="en-US" sz="1400" dirty="0"/>
              <a:t>inform candidates, </a:t>
            </a:r>
            <a:r>
              <a:rPr lang="el-GR" sz="1400" dirty="0"/>
              <a:t>που σημαίνει ότι έκλεισε η διαδικασία και ο υποψήφιος θα ενημερωθεί για το εάν πέρασε στην επόμενη φάση ή όχι. Εάν είναι ναι περιμένει το </a:t>
            </a:r>
            <a:r>
              <a:rPr lang="el-GR" sz="1400" dirty="0" err="1"/>
              <a:t>λίνκ</a:t>
            </a:r>
            <a:r>
              <a:rPr lang="el-GR" sz="1400" dirty="0"/>
              <a:t> για την επόμενη φάση.</a:t>
            </a:r>
          </a:p>
          <a:p>
            <a:r>
              <a:rPr lang="el-GR" sz="1400" dirty="0"/>
              <a:t>Τέλος, στην οθόνη που βλέπεις δίπλα θα πρέπει να </a:t>
            </a:r>
            <a:r>
              <a:rPr lang="el-GR" sz="1400" dirty="0" err="1"/>
              <a:t>μπεί</a:t>
            </a:r>
            <a:r>
              <a:rPr lang="el-GR" sz="1400" dirty="0"/>
              <a:t> κουμπί </a:t>
            </a:r>
            <a:r>
              <a:rPr lang="el-GR" sz="1400" dirty="0" err="1"/>
              <a:t>βιογραφικο</a:t>
            </a:r>
            <a:r>
              <a:rPr lang="en-US" sz="1400" dirty="0" err="1"/>
              <a:t>ύ</a:t>
            </a:r>
            <a:r>
              <a:rPr lang="el-GR" sz="1400" dirty="0"/>
              <a:t> και προτείνω </a:t>
            </a:r>
            <a:r>
              <a:rPr lang="en-US" sz="1400" dirty="0"/>
              <a:t>viewer.</a:t>
            </a:r>
            <a:endParaRPr lang="el-GR" sz="1400" dirty="0"/>
          </a:p>
        </p:txBody>
      </p:sp>
      <p:sp>
        <p:nvSpPr>
          <p:cNvPr id="8" name="Frame 7">
            <a:extLst>
              <a:ext uri="{FF2B5EF4-FFF2-40B4-BE49-F238E27FC236}">
                <a16:creationId xmlns:a16="http://schemas.microsoft.com/office/drawing/2014/main" id="{C33093C7-9864-BA95-E0ED-0F9D514BFD38}"/>
              </a:ext>
            </a:extLst>
          </p:cNvPr>
          <p:cNvSpPr/>
          <p:nvPr/>
        </p:nvSpPr>
        <p:spPr>
          <a:xfrm>
            <a:off x="5040086" y="2214226"/>
            <a:ext cx="2159042" cy="2847631"/>
          </a:xfrm>
          <a:prstGeom prst="fram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Right Arrow 8">
            <a:extLst>
              <a:ext uri="{FF2B5EF4-FFF2-40B4-BE49-F238E27FC236}">
                <a16:creationId xmlns:a16="http://schemas.microsoft.com/office/drawing/2014/main" id="{5596C4F4-4B18-A28B-F599-7451B367A741}"/>
              </a:ext>
            </a:extLst>
          </p:cNvPr>
          <p:cNvSpPr/>
          <p:nvPr/>
        </p:nvSpPr>
        <p:spPr>
          <a:xfrm rot="10800000">
            <a:off x="7336971" y="3374471"/>
            <a:ext cx="3828101" cy="3701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07370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ADEBB14-A83C-D02B-3344-26A704675F94}"/>
              </a:ext>
            </a:extLst>
          </p:cNvPr>
          <p:cNvSpPr txBox="1"/>
          <p:nvPr/>
        </p:nvSpPr>
        <p:spPr>
          <a:xfrm>
            <a:off x="696685" y="2090448"/>
            <a:ext cx="7859486" cy="1754326"/>
          </a:xfrm>
          <a:prstGeom prst="rect">
            <a:avLst/>
          </a:prstGeom>
          <a:noFill/>
        </p:spPr>
        <p:txBody>
          <a:bodyPr wrap="square">
            <a:spAutoFit/>
          </a:bodyPr>
          <a:lstStyle/>
          <a:p>
            <a:r>
              <a:rPr lang="el-GR" sz="1800" dirty="0"/>
              <a:t>Εδώ τελειώνει μια απλή </a:t>
            </a:r>
            <a:r>
              <a:rPr lang="en-US" sz="1800" dirty="0"/>
              <a:t>core </a:t>
            </a:r>
            <a:r>
              <a:rPr lang="el-GR" sz="1800" dirty="0"/>
              <a:t>περιγραφή του </a:t>
            </a:r>
            <a:r>
              <a:rPr lang="en-US" sz="1800" dirty="0" err="1"/>
              <a:t>instaview</a:t>
            </a:r>
            <a:r>
              <a:rPr lang="en-US" dirty="0" err="1"/>
              <a:t>me</a:t>
            </a:r>
            <a:r>
              <a:rPr lang="en-US" sz="1800" dirty="0"/>
              <a:t>.</a:t>
            </a:r>
            <a:br>
              <a:rPr lang="en-US" sz="1800" dirty="0"/>
            </a:br>
            <a:r>
              <a:rPr lang="el-GR" sz="1800" dirty="0"/>
              <a:t>Εννοείται ότι μπορεί να πάρει αρκετή </a:t>
            </a:r>
            <a:r>
              <a:rPr lang="el-GR" sz="1800" dirty="0" err="1"/>
              <a:t>παραμετροποιήση</a:t>
            </a:r>
            <a:r>
              <a:rPr lang="el-GR" sz="1800" dirty="0"/>
              <a:t> αλλά ότι γίνει από εδώ και πέρα πρέπει να είναι σε συμφωνία με τον τεχνικό που θα το υλοποιήσει.</a:t>
            </a:r>
            <a:r>
              <a:rPr lang="en-US" sz="1800" dirty="0"/>
              <a:t> </a:t>
            </a:r>
            <a:r>
              <a:rPr lang="el-GR" dirty="0"/>
              <a:t>Επίσης να ξέρεις ότι </a:t>
            </a:r>
            <a:r>
              <a:rPr lang="el-GR"/>
              <a:t>θα έχουμε και </a:t>
            </a:r>
            <a:r>
              <a:rPr lang="el-GR" dirty="0"/>
              <a:t>συνεργάτη μακετίστα – γραφίστα που μπορεί να μας βοηθήσει.</a:t>
            </a:r>
          </a:p>
          <a:p>
            <a:endParaRPr lang="en-US" dirty="0"/>
          </a:p>
        </p:txBody>
      </p:sp>
    </p:spTree>
    <p:extLst>
      <p:ext uri="{BB962C8B-B14F-4D97-AF65-F5344CB8AC3E}">
        <p14:creationId xmlns:p14="http://schemas.microsoft.com/office/powerpoint/2010/main" val="40687267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276</TotalTime>
  <Words>1229</Words>
  <Application>Microsoft Macintosh PowerPoint</Application>
  <PresentationFormat>Widescreen</PresentationFormat>
  <Paragraphs>43</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Labros Belesakos</dc:creator>
  <cp:lastModifiedBy>Labros Belesakos</cp:lastModifiedBy>
  <cp:revision>4</cp:revision>
  <dcterms:created xsi:type="dcterms:W3CDTF">2026-05-04T17:10:46Z</dcterms:created>
  <dcterms:modified xsi:type="dcterms:W3CDTF">2026-05-09T18:56:22Z</dcterms:modified>
</cp:coreProperties>
</file>